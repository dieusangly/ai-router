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300" b="1">
                <a:solidFill>
                  <a:srgbClr val="2D6582"/>
                </a:solidFill>
                <a:latin typeface="Aptos Display"/>
              </a:rPr>
              <a:t>KOLIBREE.AI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17320"/>
            <a:ext cx="10424160" cy="68580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3800" b="1">
                <a:solidFill>
                  <a:srgbClr val="142A41"/>
                </a:solidFill>
                <a:latin typeface="Aptos Display"/>
              </a:rPr>
              <a:t>Sovereign 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148840"/>
            <a:ext cx="9235440" cy="64008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2000" b="1">
                <a:solidFill>
                  <a:srgbClr val="2D6582"/>
                </a:solidFill>
                <a:latin typeface="Aptos Display"/>
              </a:rPr>
              <a:t>La couche qui choisit le bon modèle d’IA, au bon coût, dans le bon cadre — et garde la preuve.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657600"/>
            <a:ext cx="2377440" cy="50292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BESOIN UTILISATEUR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657600"/>
            <a:ext cx="2468880" cy="50292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142A41"/>
                </a:solidFill>
                <a:latin typeface="Aptos"/>
              </a:rPr>
              <a:t>RÈGLE D’ENTREPRISE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657600"/>
            <a:ext cx="2743200" cy="50292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142A41"/>
                </a:solidFill>
                <a:latin typeface="Aptos"/>
              </a:rPr>
              <a:t>MODÈLE LE PLUS ADAPTÉ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3657600"/>
            <a:ext cx="1691640" cy="502920"/>
          </a:xfrm>
          <a:prstGeom prst="roundRect">
            <a:avLst/>
          </a:prstGeom>
          <a:solidFill>
            <a:srgbClr val="1B7A74"/>
          </a:solidFill>
          <a:ln>
            <a:solidFill>
              <a:srgbClr val="1B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PREUVE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3904487"/>
            <a:ext cx="27432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26480" y="3904487"/>
            <a:ext cx="27432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3904487"/>
            <a:ext cx="32004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94560" y="4846320"/>
            <a:ext cx="7863840" cy="59436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2100" b="1">
                <a:solidFill>
                  <a:srgbClr val="142A41"/>
                </a:solidFill>
                <a:latin typeface="Aptos"/>
              </a:rPr>
              <a:t>L’utilisateur formule son besoin. Kolibree fait le tri.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1. Le problème : l’IA devient une dépendance critique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1155680" cy="438912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2D6582"/>
                </a:solidFill>
                <a:latin typeface="Aptos Display"/>
              </a:rPr>
              <a:t>Chaque application choisit son modèle. Personne ne contrôle vraiment l’ensemble.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74920" cy="34747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4983480" cy="41148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Aujourd’hui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95728"/>
            <a:ext cx="485546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02A33"/>
                </a:solidFill>
                <a:latin typeface="Aptos"/>
              </a:rPr>
              <a:t>Choix du modèle dans chaque application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A33"/>
                </a:solidFill>
                <a:latin typeface="Aptos"/>
              </a:rPr>
              <a:t>Coût difficile à anticiper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A33"/>
                </a:solidFill>
                <a:latin typeface="Aptos"/>
              </a:rPr>
              <a:t>Données sensibles mal orientées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A33"/>
                </a:solidFill>
                <a:latin typeface="Aptos"/>
              </a:rPr>
              <a:t>Changement de fournisseur risqué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A33"/>
                </a:solidFill>
                <a:latin typeface="Aptos"/>
              </a:rPr>
              <a:t>Qualité métier rarement prouvée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28800"/>
            <a:ext cx="5074920" cy="347472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874519"/>
            <a:ext cx="498348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Conséquence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95728"/>
            <a:ext cx="485546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02A33"/>
                </a:solidFill>
                <a:latin typeface="Aptos"/>
              </a:rPr>
              <a:t>Dépendance technique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A33"/>
                </a:solidFill>
                <a:latin typeface="Aptos"/>
              </a:rPr>
              <a:t>Dépendance juridique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A33"/>
                </a:solidFill>
                <a:latin typeface="Aptos"/>
              </a:rPr>
              <a:t>Dépendance économique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A33"/>
                </a:solidFill>
                <a:latin typeface="Aptos"/>
              </a:rPr>
              <a:t>Dépendance opérationnelle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A33"/>
                </a:solidFill>
                <a:latin typeface="Aptos"/>
              </a:rPr>
              <a:t>Plan de sortie non testé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5532120"/>
            <a:ext cx="9784080" cy="50292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800" b="1">
                <a:solidFill>
                  <a:srgbClr val="142A41"/>
                </a:solidFill>
                <a:latin typeface="Aptos Display"/>
              </a:rPr>
              <a:t>Le besoin n’est plus seulement “accéder à l’IA”. C’est piloter l’IA comme une infrastructure critique.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2. La promesse : l’utilisateur formule son besoin, Kolibree fait le tri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4572000" cy="41148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800" b="1">
                <a:solidFill>
                  <a:srgbClr val="B74947"/>
                </a:solidFill>
                <a:latin typeface="Aptos"/>
              </a:rPr>
              <a:t>Avant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234440"/>
            <a:ext cx="4572000" cy="41148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800" b="1">
                <a:solidFill>
                  <a:srgbClr val="21845C"/>
                </a:solidFill>
                <a:latin typeface="Aptos"/>
              </a:rPr>
              <a:t>Après Kolibree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34747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120640" cy="411480"/>
          </a:xfrm>
          <a:prstGeom prst="roundRect">
            <a:avLst/>
          </a:prstGeom>
          <a:solidFill>
            <a:srgbClr val="B74947"/>
          </a:solidFill>
          <a:ln>
            <a:solidFill>
              <a:srgbClr val="B74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Mode actuel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499262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Le développeur choisit GPT, Claude, Mistral ou Qwen.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Il suppose que le modèle est autorisé.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Il paie souvent trop cher.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Il doit refaire le travail si le modèle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347472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874519"/>
            <a:ext cx="5120640" cy="411480"/>
          </a:xfrm>
          <a:prstGeom prst="roundRect">
            <a:avLst/>
          </a:prstGeom>
          <a:solidFill>
            <a:srgbClr val="21845C"/>
          </a:solidFill>
          <a:ln>
            <a:solidFill>
              <a:srgbClr val="21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Mode Kolibree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395728"/>
            <a:ext cx="499262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L’application appelle sovereign-auto.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La règle d’entreprise filtre les modèles.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Le routeur choisit le meilleur modèle safe et moins cher.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La décision est conservée comme preuve.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7880" y="3566160"/>
            <a:ext cx="365760" cy="0"/>
          </a:xfrm>
          <a:prstGeom prst="line">
            <a:avLst/>
          </a:prstGeom>
          <a:ln w="381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03120" y="5577840"/>
            <a:ext cx="7955279" cy="50292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900" b="1">
                <a:solidFill>
                  <a:srgbClr val="142A41"/>
                </a:solidFill>
                <a:latin typeface="Aptos Display"/>
              </a:rPr>
              <a:t>On passe d’un choix de modèle à un choix de politique.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3. Ce que fait concrètement le produit sur une requête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691640"/>
            <a:ext cx="566928" cy="566928"/>
          </a:xfrm>
          <a:prstGeom prst="ellipse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31720"/>
            <a:ext cx="2148840" cy="86868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Comprendre
le besoin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2743200"/>
            <a:ext cx="182879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3703320" y="1691640"/>
            <a:ext cx="566928" cy="56692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79" y="2331720"/>
            <a:ext cx="2148840" cy="86868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142A41"/>
                </a:solidFill>
                <a:latin typeface="Aptos Display"/>
              </a:rPr>
              <a:t>Filtrer
ce qui est interdit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74920" y="2743200"/>
            <a:ext cx="18288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035040" y="1691640"/>
            <a:ext cx="566928" cy="56692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331720"/>
            <a:ext cx="2148840" cy="86868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142A41"/>
                </a:solidFill>
                <a:latin typeface="Aptos Display"/>
              </a:rPr>
              <a:t>Choisir
le meilleur candidat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06640" y="2743200"/>
            <a:ext cx="18288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366760" y="1691640"/>
            <a:ext cx="566928" cy="56692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331720"/>
            <a:ext cx="2148840" cy="86868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142A41"/>
                </a:solidFill>
                <a:latin typeface="Aptos Display"/>
              </a:rPr>
              <a:t>Vérifier
la réponse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38360" y="2743200"/>
            <a:ext cx="18288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698480" y="1691640"/>
            <a:ext cx="566928" cy="56692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2331720"/>
            <a:ext cx="2148840" cy="86868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142A41"/>
                </a:solidFill>
                <a:latin typeface="Aptos Display"/>
              </a:rPr>
              <a:t>Conserver
la preuve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069080"/>
            <a:ext cx="1014984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4114800"/>
            <a:ext cx="1005840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 filtre souverain est non négociable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636008"/>
            <a:ext cx="993038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Une donnée sensible ne sort jamais vers un modèle non autorisé.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Une meilleure qualité ne compense pas une interdiction.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La preuve indique pourquoi les autres modèles ont été rejetés.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5852160"/>
            <a:ext cx="9144000" cy="32004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0">
                <a:solidFill>
                  <a:srgbClr val="697480"/>
                </a:solidFill>
                <a:latin typeface="Aptos"/>
              </a:rPr>
              <a:t>Vocabulaire : “sortie de données” remplace “egress”. “Policy” signifie règle d’entreprise.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 Display"/>
              </a:rPr>
              <a:t>4. La gamme produit Kolibree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868680"/>
            <a:ext cx="10561320" cy="393192"/>
          </a:xfrm>
          <a:prstGeom prst="roundRect">
            <a:avLst/>
          </a:prstGeom>
          <a:solidFill>
            <a:srgbClr val="EAF2F6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C6685"/>
                </a:solidFill>
                <a:latin typeface="Aptos"/>
              </a:rPr>
              <a:t>Le Router est le cœur. La gamme qualifie les modèles, décide à la requête, puis prouve et remplace.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36192"/>
            <a:ext cx="3291840" cy="425196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34840" y="1536192"/>
            <a:ext cx="3337560" cy="4251960"/>
          </a:xfrm>
          <a:prstGeom prst="roundRect">
            <a:avLst/>
          </a:prstGeom>
          <a:solidFill>
            <a:srgbClr val="EAF2F6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75320" y="1536192"/>
            <a:ext cx="3291840" cy="425196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3108960" cy="384048"/>
          </a:xfrm>
          <a:prstGeom prst="roundRect">
            <a:avLst/>
          </a:prstGeom>
          <a:solidFill>
            <a:srgbClr val="2C6685"/>
          </a:solidFill>
          <a:ln>
            <a:solidFill>
              <a:srgbClr val="2C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1. Qualifier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27632"/>
            <a:ext cx="3108960" cy="384048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2. Décider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627632"/>
            <a:ext cx="3108960" cy="384048"/>
          </a:xfrm>
          <a:prstGeom prst="roundRect">
            <a:avLst/>
          </a:prstGeom>
          <a:solidFill>
            <a:srgbClr val="1B6B57"/>
          </a:solidFill>
          <a:ln>
            <a:solidFill>
              <a:srgbClr val="1B6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3. Prouver / remplacer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48840"/>
            <a:ext cx="287121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194560"/>
            <a:ext cx="2798064" cy="347472"/>
          </a:xfrm>
          <a:prstGeom prst="roundRect">
            <a:avLst/>
          </a:prstGeom>
          <a:solidFill>
            <a:srgbClr val="2C6685"/>
          </a:solidFill>
          <a:ln>
            <a:solidFill>
              <a:srgbClr val="2C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AI-BOM /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334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Carte d’identité des modèles</a:t>
            </a:r>
          </a:p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licence, origine, build, coûts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172968"/>
            <a:ext cx="287121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3218688"/>
            <a:ext cx="2798064" cy="347472"/>
          </a:xfrm>
          <a:prstGeom prst="roundRect">
            <a:avLst/>
          </a:prstGeom>
          <a:solidFill>
            <a:srgbClr val="2C6685"/>
          </a:solidFill>
          <a:ln>
            <a:solidFill>
              <a:srgbClr val="2C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Sector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Tests métier scellés</a:t>
            </a:r>
          </a:p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LCB-FT, crédit, assurance,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97096"/>
            <a:ext cx="287121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4242816"/>
            <a:ext cx="2798064" cy="347472"/>
          </a:xfrm>
          <a:prstGeom prst="roundRect">
            <a:avLst/>
          </a:prstGeom>
          <a:solidFill>
            <a:srgbClr val="2C6685"/>
          </a:solidFill>
          <a:ln>
            <a:solidFill>
              <a:srgbClr val="2C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Modèles certifiés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817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Builds validés, expirations,</a:t>
            </a:r>
          </a:p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red flags et scores par tâche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73168" y="2240280"/>
            <a:ext cx="2651760" cy="105156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Aptos Display"/>
              </a:rPr>
              <a:t>Sovereign Router</a:t>
            </a:r>
          </a:p>
          <a:p>
            <a:pPr algn="ctr"/>
            <a:r>
              <a:rPr sz="1550" b="1">
                <a:solidFill>
                  <a:srgbClr val="FFFFFF"/>
                </a:solidFill>
                <a:latin typeface="Aptos Display"/>
              </a:rPr>
              <a:t>Décision par requête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3566160"/>
            <a:ext cx="272491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73168" y="3611879"/>
            <a:ext cx="2651760" cy="347472"/>
          </a:xfrm>
          <a:prstGeom prst="roundRect">
            <a:avLst/>
          </a:prstGeom>
          <a:solidFill>
            <a:srgbClr val="2C6685"/>
          </a:solidFill>
          <a:ln>
            <a:solidFill>
              <a:srgbClr val="2C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Policy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050791"/>
            <a:ext cx="2505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202A33"/>
                </a:solidFill>
                <a:latin typeface="Aptos"/>
              </a:rPr>
              <a:t>règles client : données, zone, budget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36592" y="4434840"/>
            <a:ext cx="272491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73168" y="4480559"/>
            <a:ext cx="2651760" cy="347472"/>
          </a:xfrm>
          <a:prstGeom prst="roundRect">
            <a:avLst/>
          </a:prstGeom>
          <a:solidFill>
            <a:srgbClr val="1B6B57"/>
          </a:solidFill>
          <a:ln>
            <a:solidFill>
              <a:srgbClr val="1B6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Verifier / Escalade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919472"/>
            <a:ext cx="2505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202A33"/>
                </a:solidFill>
                <a:latin typeface="Aptos"/>
              </a:rPr>
              <a:t>tester la réponse puis escalader si besoin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2" y="2148840"/>
            <a:ext cx="287121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22207" y="2194560"/>
            <a:ext cx="2798064" cy="347472"/>
          </a:xfrm>
          <a:prstGeom prst="roundRect">
            <a:avLst/>
          </a:prstGeom>
          <a:solidFill>
            <a:srgbClr val="1B6B57"/>
          </a:solidFill>
          <a:ln>
            <a:solidFill>
              <a:srgbClr val="1B6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Evidence Ledger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26334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preuve de chaque décision</a:t>
            </a:r>
          </a:p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policy, build, coût, raison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85632" y="3172968"/>
            <a:ext cx="287121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22207" y="3218688"/>
            <a:ext cx="2798064" cy="347472"/>
          </a:xfrm>
          <a:prstGeom prst="roundRect">
            <a:avLst/>
          </a:prstGeom>
          <a:solidFill>
            <a:srgbClr val="1B6B57"/>
          </a:solidFill>
          <a:ln>
            <a:solidFill>
              <a:srgbClr val="1B6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Exit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59" y="36576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rejouer un workload sur</a:t>
            </a:r>
          </a:p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une alternative et mesurer l’écart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85632" y="4197096"/>
            <a:ext cx="2871216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22207" y="4242816"/>
            <a:ext cx="2798064" cy="347472"/>
          </a:xfrm>
          <a:prstGeom prst="roundRect">
            <a:avLst/>
          </a:prstGeom>
          <a:solidFill>
            <a:srgbClr val="E6A028"/>
          </a:solidFill>
          <a:ln>
            <a:solidFill>
              <a:srgbClr val="E6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Model Forge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59" y="46817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créer/corriger un build</a:t>
            </a:r>
          </a:p>
          <a:p>
            <a:pPr algn="ctr"/>
            <a:r>
              <a:rPr sz="910" b="0">
                <a:solidFill>
                  <a:srgbClr val="202A33"/>
                </a:solidFill>
                <a:latin typeface="Aptos"/>
              </a:rPr>
              <a:t>si le marché ne suffit pas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94760" y="3611880"/>
            <a:ext cx="640080" cy="0"/>
          </a:xfrm>
          <a:prstGeom prst="line">
            <a:avLst/>
          </a:prstGeom>
          <a:ln w="31750">
            <a:solidFill>
              <a:srgbClr val="2C6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72400" y="3611880"/>
            <a:ext cx="502920" cy="0"/>
          </a:xfrm>
          <a:prstGeom prst="line">
            <a:avLst/>
          </a:prstGeom>
          <a:ln w="31750">
            <a:solidFill>
              <a:srgbClr val="1B6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4400" y="5980176"/>
            <a:ext cx="10332720" cy="384048"/>
          </a:xfrm>
          <a:prstGeom prst="roundRect">
            <a:avLst/>
          </a:prstGeom>
          <a:solidFill>
            <a:srgbClr val="EAF2F6"/>
          </a:solidFill>
          <a:ln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7324D"/>
                </a:solidFill>
                <a:latin typeface="Aptos"/>
              </a:rPr>
              <a:t>Gamme commerciale : modèles certifiés • benchmarks sectoriels • router • evidence/exit • modèles Kolibree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644652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77481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5. AI-BOM : la carte d’identité d’un modèle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1155680" cy="438912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2D6582"/>
                </a:solidFill>
                <a:latin typeface="Aptos Display"/>
              </a:rPr>
              <a:t>Sans AI-BOM, on parle d’un nom de modèle. Avec AI-BOM, on parle d’un build vérifiable.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3337560" cy="45720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MODEL PASSPORT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31720"/>
            <a:ext cx="96012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r"/>
            <a:r>
              <a:rPr sz="950" b="1">
                <a:solidFill>
                  <a:srgbClr val="697480"/>
                </a:solidFill>
                <a:latin typeface="Aptos"/>
              </a:rPr>
              <a:t>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2331720"/>
            <a:ext cx="219456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050" b="0">
                <a:solidFill>
                  <a:srgbClr val="202A33"/>
                </a:solidFill>
                <a:latin typeface="Aptos"/>
              </a:rPr>
              <a:t>qwen-eu-27b / build-17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15768"/>
            <a:ext cx="96012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r"/>
            <a:r>
              <a:rPr sz="950" b="1">
                <a:solidFill>
                  <a:srgbClr val="697480"/>
                </a:solidFill>
                <a:latin typeface="Aptos"/>
              </a:rPr>
              <a:t>Origine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2715768"/>
            <a:ext cx="219456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050" b="0">
                <a:solidFill>
                  <a:srgbClr val="202A33"/>
                </a:solidFill>
                <a:latin typeface="Aptos"/>
              </a:rPr>
              <a:t>Famille CN, build Kolibree EU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99815"/>
            <a:ext cx="96012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r"/>
            <a:r>
              <a:rPr sz="950" b="1">
                <a:solidFill>
                  <a:srgbClr val="697480"/>
                </a:solidFill>
                <a:latin typeface="Aptos"/>
              </a:rPr>
              <a:t>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3099815"/>
            <a:ext cx="219456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050" b="0">
                <a:solidFill>
                  <a:srgbClr val="202A33"/>
                </a:solidFill>
                <a:latin typeface="Aptos"/>
              </a:rPr>
              <a:t>Apache 2.0 / compatible usage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83863"/>
            <a:ext cx="96012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r"/>
            <a:r>
              <a:rPr sz="950" b="1">
                <a:solidFill>
                  <a:srgbClr val="697480"/>
                </a:solidFill>
                <a:latin typeface="Aptos"/>
              </a:rPr>
              <a:t>Zone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483863"/>
            <a:ext cx="219456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050" b="0">
                <a:solidFill>
                  <a:srgbClr val="202A33"/>
                </a:solidFill>
                <a:latin typeface="Aptos"/>
              </a:rPr>
              <a:t>Exécution autorisée : EU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67911"/>
            <a:ext cx="96012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r"/>
            <a:r>
              <a:rPr sz="950" b="1">
                <a:solidFill>
                  <a:srgbClr val="697480"/>
                </a:solidFill>
                <a:latin typeface="Aptos"/>
              </a:rPr>
              <a:t>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3867911"/>
            <a:ext cx="219456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050" b="0">
                <a:solidFill>
                  <a:srgbClr val="202A33"/>
                </a:solidFill>
                <a:latin typeface="Aptos"/>
              </a:rPr>
              <a:t>LCB-FT Pack v1 :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51959"/>
            <a:ext cx="96012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r"/>
            <a:r>
              <a:rPr sz="950" b="1">
                <a:solidFill>
                  <a:srgbClr val="697480"/>
                </a:solidFill>
                <a:latin typeface="Aptos"/>
              </a:rPr>
              <a:t>Coût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4251959"/>
            <a:ext cx="219456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050" b="0">
                <a:solidFill>
                  <a:srgbClr val="202A33"/>
                </a:solidFill>
                <a:latin typeface="Aptos"/>
              </a:rPr>
              <a:t>Profil tokens + GPU + 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36007"/>
            <a:ext cx="96012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r"/>
            <a:r>
              <a:rPr sz="950" b="1">
                <a:solidFill>
                  <a:srgbClr val="697480"/>
                </a:solidFill>
                <a:latin typeface="Aptos"/>
              </a:rPr>
              <a:t>Validité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4636007"/>
            <a:ext cx="2194560" cy="29260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050" b="0">
                <a:solidFill>
                  <a:srgbClr val="202A33"/>
                </a:solidFill>
                <a:latin typeface="Aptos"/>
              </a:rPr>
              <a:t>Revalidation le 30/11/2026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920240"/>
            <a:ext cx="3017520" cy="297180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00600" y="1965960"/>
            <a:ext cx="2926079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Pourquoi c’est éclairant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487168"/>
            <a:ext cx="2798063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Le même nom de modèle peut cacher plusieurs builds.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Deux builds d’une même famille n’ont pas la même licence, la même zone, ni la même qualité métier.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Le Router utilise ces fiches pour prendre une décision explicable.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920240"/>
            <a:ext cx="3017520" cy="297180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75320" y="1965960"/>
            <a:ext cx="2926079" cy="411480"/>
          </a:xfrm>
          <a:prstGeom prst="roundRect">
            <a:avLst/>
          </a:prstGeom>
          <a:solidFill>
            <a:srgbClr val="21845C"/>
          </a:solidFill>
          <a:ln>
            <a:solidFill>
              <a:srgbClr val="21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 que cela permet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487168"/>
            <a:ext cx="2798063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modèles certifiés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modèles propres Kolibree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modèles clients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comparaison qualité / coût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retrait automatique si certificat expiré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5577840"/>
            <a:ext cx="950976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700" b="1">
                <a:solidFill>
                  <a:srgbClr val="142A41"/>
                </a:solidFill>
                <a:latin typeface="Aptos Display"/>
              </a:rPr>
              <a:t>L’AI-BOM est le socle du Registry : il rend les modèles lisibles pour le DSI, Risk, Audit et le Router.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6. Vue utilisateur : “je formule mon besoin”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93776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4846320" cy="41148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Besoin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84248"/>
            <a:ext cx="471830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3"/>
                </a:solidFill>
                <a:latin typeface="Aptos"/>
              </a:rPr>
              <a:t>« Résume ce dossier LCB-FT, identifie les points d’incertitude et prépare une note sourcée.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4937760" cy="201168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3291839"/>
            <a:ext cx="484632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 que l’utilisateur ne choisit 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813048"/>
            <a:ext cx="471830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le fournisseur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la zone d’inférence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le niveau de modèle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le mode de preuve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120640" cy="384048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029200" cy="411480"/>
          </a:xfrm>
          <a:prstGeom prst="roundRect">
            <a:avLst/>
          </a:prstGeom>
          <a:solidFill>
            <a:srgbClr val="21845C"/>
          </a:solidFill>
          <a:ln>
            <a:solidFill>
              <a:srgbClr val="21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 que Kolibree 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01183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comprend que c’est LCB-FT + données sensibles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applique la règle de la banque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choisit le modèle safe le moins cher qui passe le seuil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escalade si le cas est difficile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A33"/>
                </a:solidFill>
                <a:latin typeface="Aptos"/>
              </a:rPr>
              <a:t>garde la preuve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577840"/>
            <a:ext cx="10881360" cy="530352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142A41"/>
                </a:solidFill>
                <a:latin typeface="Aptos Display"/>
              </a:rPr>
              <a:t>Le produit masque la complexité technique sans masquer la responsabilité.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7. Vue DSI / CFO : économiser les tokens “chers”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1155680" cy="438912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2D6582"/>
                </a:solidFill>
                <a:latin typeface="Aptos Display"/>
              </a:rPr>
              <a:t>Le coût baisse parce que le modèle frontier devient une escalade, pas le réflexe par défaut.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4389120" cy="41148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B74947"/>
                </a:solidFill>
                <a:latin typeface="Aptos"/>
              </a:rPr>
              <a:t>Mode naïf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148840"/>
            <a:ext cx="3840480" cy="2240280"/>
          </a:xfrm>
          <a:prstGeom prst="roundRect">
            <a:avLst/>
          </a:prstGeom>
          <a:solidFill>
            <a:srgbClr val="B74947"/>
          </a:solidFill>
          <a:ln>
            <a:solidFill>
              <a:srgbClr val="B74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100% des requêtes
vers un modèle frontier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617720"/>
            <a:ext cx="3931920" cy="77724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0">
                <a:solidFill>
                  <a:srgbClr val="202A33"/>
                </a:solidFill>
                <a:latin typeface="Aptos"/>
              </a:rPr>
              <a:t>Coût élevé
Peu d’explication
Dépendance forte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00200"/>
            <a:ext cx="4389120" cy="41148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21845C"/>
                </a:solidFill>
                <a:latin typeface="Aptos"/>
              </a:rPr>
              <a:t>Mode Kolibree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48840"/>
            <a:ext cx="4023360" cy="822960"/>
          </a:xfrm>
          <a:prstGeom prst="roundRect">
            <a:avLst/>
          </a:prstGeom>
          <a:solidFill>
            <a:srgbClr val="21845C"/>
          </a:solidFill>
          <a:ln>
            <a:solidFill>
              <a:srgbClr val="21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70% tâches simples
petit modèle / règles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035808"/>
            <a:ext cx="4023360" cy="685800"/>
          </a:xfrm>
          <a:prstGeom prst="roundRect">
            <a:avLst/>
          </a:prstGeom>
          <a:solidFill>
            <a:srgbClr val="1B7A74"/>
          </a:solidFill>
          <a:ln>
            <a:solidFill>
              <a:srgbClr val="1B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20% tâches standard
modèle moyen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776472"/>
            <a:ext cx="4023360" cy="59436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8% tâches complexes
reasoner open-weight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425696"/>
            <a:ext cx="4023360" cy="411480"/>
          </a:xfrm>
          <a:prstGeom prst="roundRect">
            <a:avLst/>
          </a:prstGeom>
          <a:solidFill>
            <a:srgbClr val="DA9428"/>
          </a:solidFill>
          <a:ln>
            <a:solidFill>
              <a:srgbClr val="DA9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2% cas extrêmes
frontier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5074920"/>
            <a:ext cx="4297680" cy="82296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0">
                <a:solidFill>
                  <a:srgbClr val="202A33"/>
                </a:solidFill>
                <a:latin typeface="Aptos"/>
              </a:rPr>
              <a:t>Moins de tokens frontier
Meilleur coût par tâche correcte
Meilleure capacité de négociation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3246120"/>
            <a:ext cx="822960" cy="0"/>
          </a:xfrm>
          <a:prstGeom prst="line">
            <a:avLst/>
          </a:prstGeom>
          <a:ln w="381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" y="5989320"/>
            <a:ext cx="10058400" cy="256032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050" b="0">
                <a:solidFill>
                  <a:srgbClr val="697480"/>
                </a:solidFill>
                <a:latin typeface="Aptos"/>
              </a:rPr>
              <a:t>Illustration à calibrer avec vos données de trafic : les pourcentages ne sont pas une promesse, mais la logique économique.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8. Les métriques économiques que Kolibree rend visibles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2834640" cy="16459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274320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Coût par requête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92807"/>
            <a:ext cx="261518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A33"/>
                </a:solidFill>
                <a:latin typeface="Aptos"/>
              </a:rPr>
              <a:t>combien coûte chaque appel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325880"/>
            <a:ext cx="2834640" cy="16459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274320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Coût par tâche correcte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688" y="1892807"/>
            <a:ext cx="261518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A33"/>
                </a:solidFill>
                <a:latin typeface="Aptos"/>
              </a:rPr>
              <a:t>combien coûte une réponse qui passe les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325880"/>
            <a:ext cx="2834640" cy="16459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1371600"/>
            <a:ext cx="274320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Taux d’escalade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7" y="1892807"/>
            <a:ext cx="261518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A33"/>
                </a:solidFill>
                <a:latin typeface="Aptos"/>
              </a:rPr>
              <a:t>combien de requêtes montent vers un modèle plus cher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2834640" cy="16459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274320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Prime de souveraineté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224528"/>
            <a:ext cx="261518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A33"/>
                </a:solidFill>
                <a:latin typeface="Aptos"/>
              </a:rPr>
              <a:t>surcoût d’une politique EU-S4 ou isolée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657600"/>
            <a:ext cx="2834640" cy="16459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3703320"/>
            <a:ext cx="274320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Risque de concentration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4224528"/>
            <a:ext cx="261518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A33"/>
                </a:solidFill>
                <a:latin typeface="Aptos"/>
              </a:rPr>
              <a:t>part du trafic/coût par fournisseur ou famille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657600"/>
            <a:ext cx="2834640" cy="16459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18120" y="3703320"/>
            <a:ext cx="274320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Économie de substitution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224528"/>
            <a:ext cx="261518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A33"/>
                </a:solidFill>
                <a:latin typeface="Aptos"/>
              </a:rPr>
              <a:t>gain si l’on remplace un modèle par une alternative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5806440"/>
            <a:ext cx="9144000" cy="41148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800" b="1">
                <a:solidFill>
                  <a:srgbClr val="142A41"/>
                </a:solidFill>
                <a:latin typeface="Aptos Display"/>
              </a:rPr>
              <a:t>Le CFO ne pilote pas des tokens. Il pilote des tâches utiles, correctes et conformes.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9. Le rôle de Kolibree : plus qu’un router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474720" cy="196596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79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1. Fournir des modèles certifiés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984248"/>
            <a:ext cx="3255263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catalogue de builds autorisés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AI-BOM et scores métier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expiration / revalidation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74720" cy="196596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79" cy="411480"/>
          </a:xfrm>
          <a:prstGeom prst="roundRect">
            <a:avLst/>
          </a:prstGeom>
          <a:solidFill>
            <a:srgbClr val="21845C"/>
          </a:solidFill>
          <a:ln>
            <a:solidFill>
              <a:srgbClr val="21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2. Fournir nos propres 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3128" y="1984248"/>
            <a:ext cx="3255263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builds open-weight réalignés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modèles spécialisés LCB-FT / code / assurance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substitution lorsque le marché échoue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417320"/>
            <a:ext cx="3474720" cy="196596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79" cy="41148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3. Fournir les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7" y="1984248"/>
            <a:ext cx="3255263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Sector Packs privés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tests scellés et rejouables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score par build, pas par marque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931920"/>
            <a:ext cx="379476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74519" y="3977639"/>
            <a:ext cx="3703320" cy="411480"/>
          </a:xfrm>
          <a:prstGeom prst="roundRect">
            <a:avLst/>
          </a:prstGeom>
          <a:solidFill>
            <a:srgbClr val="1B7A74"/>
          </a:solidFill>
          <a:ln>
            <a:solidFill>
              <a:srgbClr val="1B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4. Fournir la preuve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4498848"/>
            <a:ext cx="357530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Evidence Ledger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Exit Lab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décisions explicables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export audit / DORA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931920"/>
            <a:ext cx="3794760" cy="182880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59" y="3977639"/>
            <a:ext cx="3703320" cy="411480"/>
          </a:xfrm>
          <a:prstGeom prst="roundRect">
            <a:avLst/>
          </a:prstGeom>
          <a:solidFill>
            <a:srgbClr val="DA9428"/>
          </a:solidFill>
          <a:ln>
            <a:solidFill>
              <a:srgbClr val="DA9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5. Fournir la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498848"/>
            <a:ext cx="357530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LCB-FT d’abord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puis crédit, assurance, code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puis multi-zones EU / US / CN / APAC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10. Point d’entrée : LCB-FT maintenant, gamme ensuite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828800"/>
            <a:ext cx="2194560" cy="50292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LCB-FT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828800"/>
            <a:ext cx="2194560" cy="50292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800" b="1">
                <a:solidFill>
                  <a:srgbClr val="142A41"/>
                </a:solidFill>
                <a:latin typeface="Aptos"/>
              </a:rPr>
              <a:t>Crédit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828800"/>
            <a:ext cx="2194560" cy="50292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800" b="1">
                <a:solidFill>
                  <a:srgbClr val="142A41"/>
                </a:solidFill>
                <a:latin typeface="Aptos"/>
              </a:rPr>
              <a:t>Assurance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828800"/>
            <a:ext cx="219456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800" b="1">
                <a:solidFill>
                  <a:srgbClr val="142A41"/>
                </a:solidFill>
                <a:latin typeface="Aptos"/>
              </a:rPr>
              <a:t>Code /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2084831"/>
            <a:ext cx="32004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23560" y="2084831"/>
            <a:ext cx="32004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83879" y="2084831"/>
            <a:ext cx="32004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2971800"/>
            <a:ext cx="5074920" cy="265176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017520"/>
            <a:ext cx="498348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Pourquoi LCB-FT en premier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38728"/>
            <a:ext cx="4855464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expérience métier existante via Flaminem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domaine critique et mesurable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besoin de refus, incertitude, justification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bonne porte d’entrée DSI + Risk +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971800"/>
            <a:ext cx="5074920" cy="265176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4983480" cy="411480"/>
          </a:xfrm>
          <a:prstGeom prst="roundRect">
            <a:avLst/>
          </a:prstGeom>
          <a:solidFill>
            <a:srgbClr val="21845C"/>
          </a:solidFill>
          <a:ln>
            <a:solidFill>
              <a:srgbClr val="21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 qui se répète ensuite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538728"/>
            <a:ext cx="4855464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un Sector Pack métier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des modèles certifiés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un score par build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un Exit Test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un mode de preuve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11. Sovereign Realignment : quand le marché ne suffit pas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1155680" cy="438912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2D6582"/>
                </a:solidFill>
                <a:latin typeface="Aptos Display"/>
              </a:rPr>
              <a:t>Kolibree peut aussi produire un build dérivé, mesuré et auditable.</a:t>
            </a:r>
          </a:p>
        </p:txBody>
      </p:sp>
      <p:sp>
        <p:nvSpPr>
          <p:cNvPr id="4" name="Oval 3"/>
          <p:cNvSpPr/>
          <p:nvPr/>
        </p:nvSpPr>
        <p:spPr>
          <a:xfrm>
            <a:off x="1344168" y="1828800"/>
            <a:ext cx="548640" cy="548640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1874519" cy="77724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142A41"/>
                </a:solidFill>
                <a:latin typeface="Aptos Display"/>
              </a:rPr>
              <a:t>Mesurer
le modèle source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2880360"/>
            <a:ext cx="27432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493008" y="1828800"/>
            <a:ext cx="548640" cy="548640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514600"/>
            <a:ext cx="1874519" cy="77724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142A41"/>
                </a:solidFill>
                <a:latin typeface="Aptos Display"/>
              </a:rPr>
              <a:t>Corriger
le comportement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2880360"/>
            <a:ext cx="27432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641848" y="1828800"/>
            <a:ext cx="548640" cy="548640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514600"/>
            <a:ext cx="1874519" cy="77724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142A41"/>
                </a:solidFill>
                <a:latin typeface="Aptos Display"/>
              </a:rPr>
              <a:t>Rejouer
les tests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0" y="2880360"/>
            <a:ext cx="27432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90688" y="1828800"/>
            <a:ext cx="548640" cy="548640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514600"/>
            <a:ext cx="1874519" cy="77724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142A41"/>
                </a:solidFill>
                <a:latin typeface="Aptos Display"/>
              </a:rPr>
              <a:t>Sceller
le nouveau build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6840" y="2880360"/>
            <a:ext cx="27432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939528" y="1828800"/>
            <a:ext cx="548640" cy="548640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514600"/>
            <a:ext cx="1874519" cy="77724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142A41"/>
                </a:solidFill>
                <a:latin typeface="Aptos Display"/>
              </a:rPr>
              <a:t>Entrer
dans le Registry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251960"/>
            <a:ext cx="5120640" cy="160020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297680"/>
            <a:ext cx="5029200" cy="411480"/>
          </a:xfrm>
          <a:prstGeom prst="roundRect">
            <a:avLst/>
          </a:prstGeom>
          <a:solidFill>
            <a:srgbClr val="21845C"/>
          </a:solidFill>
          <a:ln>
            <a:solidFill>
              <a:srgbClr val="21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 que cela veut dire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818888"/>
            <a:ext cx="4901183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Pas “uncensorer” un modèle à l’aveugle.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Mesurer les refus, biais, asymétries et pertes de capacité.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Corriger, puis prouver qu’on n’a pas cassé le modèle.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251960"/>
            <a:ext cx="4892040" cy="160020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297680"/>
            <a:ext cx="4800600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Rôle produit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818888"/>
            <a:ext cx="4672583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Si aucun modèle ne passe policy × qualité × coût, Model Forge produit une alternative certifiable.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A33"/>
                </a:solidFill>
                <a:latin typeface="Aptos"/>
              </a:rPr>
              <a:t>Ce n’est pas le MVP, mais c’est la perspective stratégique.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12. Notre espace face aux concurrents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5257800"/>
            <a:ext cx="3017520" cy="50292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0">
                <a:solidFill>
                  <a:srgbClr val="697480"/>
                </a:solidFill>
                <a:latin typeface="Aptos"/>
              </a:rPr>
              <a:t>Plomberie gateway
API, auth, budgets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5257800"/>
            <a:ext cx="3383280" cy="50292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0">
                <a:solidFill>
                  <a:srgbClr val="697480"/>
                </a:solidFill>
                <a:latin typeface="Aptos"/>
              </a:rPr>
              <a:t>Preuve métier
runtime + benchmarks + sortie testée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54480" y="4754880"/>
            <a:ext cx="9052560" cy="0"/>
          </a:xfrm>
          <a:prstGeom prst="line">
            <a:avLst/>
          </a:prstGeom>
          <a:ln w="25400">
            <a:solidFill>
              <a:srgbClr val="D2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554480" y="1417320"/>
            <a:ext cx="0" cy="3337560"/>
          </a:xfrm>
          <a:prstGeom prst="line">
            <a:avLst/>
          </a:prstGeom>
          <a:ln w="25400">
            <a:solidFill>
              <a:srgbClr val="D2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914400"/>
            <a:ext cx="2103120" cy="365760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200" b="0">
                <a:solidFill>
                  <a:srgbClr val="697480"/>
                </a:solidFill>
                <a:latin typeface="Aptos"/>
              </a:rPr>
              <a:t>Execution runtime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069080"/>
            <a:ext cx="1828800" cy="54864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Gateways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108960"/>
            <a:ext cx="2011680" cy="54864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Hyperscalers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4023360"/>
            <a:ext cx="1280160" cy="548640"/>
          </a:xfrm>
          <a:prstGeom prst="roundRect">
            <a:avLst/>
          </a:prstGeom>
          <a:solidFill>
            <a:srgbClr val="DA9428"/>
          </a:solidFill>
          <a:ln>
            <a:solidFill>
              <a:srgbClr val="DA9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GRC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743200"/>
            <a:ext cx="1828800" cy="548640"/>
          </a:xfrm>
          <a:prstGeom prst="roundRect">
            <a:avLst/>
          </a:prstGeom>
          <a:solidFill>
            <a:srgbClr val="1B7A74"/>
          </a:solidFill>
          <a:ln>
            <a:solidFill>
              <a:srgbClr val="1B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920240"/>
            <a:ext cx="1645920" cy="548640"/>
          </a:xfrm>
          <a:prstGeom prst="roundRect">
            <a:avLst/>
          </a:prstGeom>
          <a:solidFill>
            <a:srgbClr val="B74947"/>
          </a:solidFill>
          <a:ln>
            <a:solidFill>
              <a:srgbClr val="B74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20240"/>
            <a:ext cx="2194560" cy="73152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KOLIBREE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880360"/>
            <a:ext cx="3383280" cy="178308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3800" y="2926079"/>
            <a:ext cx="3291840" cy="41148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Différenciation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7" y="3447288"/>
            <a:ext cx="3163824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02A33"/>
                </a:solidFill>
                <a:latin typeface="Aptos"/>
              </a:rPr>
              <a:t>score métier par build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A33"/>
                </a:solidFill>
                <a:latin typeface="Aptos"/>
              </a:rPr>
              <a:t>décision in-path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A33"/>
                </a:solidFill>
                <a:latin typeface="Aptos"/>
              </a:rPr>
              <a:t>preuve de chaque choix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A33"/>
                </a:solidFill>
                <a:latin typeface="Aptos"/>
              </a:rPr>
              <a:t>Exit Test réel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A33"/>
                </a:solidFill>
                <a:latin typeface="Aptos"/>
              </a:rPr>
              <a:t>remédiation / modèles propres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13. Ce que doit prouver la première version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252728"/>
            <a:ext cx="384048" cy="38404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234440"/>
            <a:ext cx="99669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600" b="0">
                <a:solidFill>
                  <a:srgbClr val="202A33"/>
                </a:solidFill>
                <a:latin typeface="Aptos"/>
              </a:rPr>
              <a:t>Une application change sa base URL et appelle sovereign-auto.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911096"/>
            <a:ext cx="384048" cy="38404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892808"/>
            <a:ext cx="9966960" cy="41148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600" b="0">
                <a:solidFill>
                  <a:srgbClr val="202A33"/>
                </a:solidFill>
                <a:latin typeface="Aptos"/>
              </a:rPr>
              <a:t>Une règle bloque réellement une sortie de données interdite.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569464"/>
            <a:ext cx="384048" cy="38404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551176"/>
            <a:ext cx="99669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600" b="0">
                <a:solidFill>
                  <a:srgbClr val="202A33"/>
                </a:solidFill>
                <a:latin typeface="Aptos"/>
              </a:rPr>
              <a:t>Le Router choisit entre deux builds selon qualité métier + coût.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27832"/>
            <a:ext cx="384048" cy="38404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3209544"/>
            <a:ext cx="9966960" cy="41148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600" b="0">
                <a:solidFill>
                  <a:srgbClr val="202A33"/>
                </a:solidFill>
                <a:latin typeface="Aptos"/>
              </a:rPr>
              <a:t>Une requête simple reste sur un modèle économique ; une requête difficile escalade.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886199"/>
            <a:ext cx="384048" cy="38404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867911"/>
            <a:ext cx="99669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600" b="0">
                <a:solidFill>
                  <a:srgbClr val="202A33"/>
                </a:solidFill>
                <a:latin typeface="Aptos"/>
              </a:rPr>
              <a:t>Le LCB-FT Pack est rejouable.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44567"/>
            <a:ext cx="384048" cy="38404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4526279"/>
            <a:ext cx="9966960" cy="41148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600" b="0">
                <a:solidFill>
                  <a:srgbClr val="202A33"/>
                </a:solidFill>
                <a:latin typeface="Aptos"/>
              </a:rPr>
              <a:t>L’Exit Test produit PASS / FAIL avec qualité, coût, latence et échecs critiques.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202935"/>
            <a:ext cx="384048" cy="384048"/>
          </a:xfrm>
          <a:prstGeom prst="ellipse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5184647"/>
            <a:ext cx="99669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/>
            <a:r>
              <a:rPr sz="1600" b="0">
                <a:solidFill>
                  <a:srgbClr val="202A33"/>
                </a:solidFill>
                <a:latin typeface="Aptos"/>
              </a:rPr>
              <a:t>Chaque réponse pointe vers une policy et un build exacts.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97880"/>
            <a:ext cx="10881360" cy="45720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500" b="1">
                <a:solidFill>
                  <a:srgbClr val="142A41"/>
                </a:solidFill>
                <a:latin typeface="Aptos Display"/>
              </a:rPr>
              <a:t>Le MVP n’est pas une console. C’est une décision réelle avant sortie de données, avec une preuve.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1"/>
                </a:solidFill>
                <a:latin typeface="Aptos Display"/>
              </a:rPr>
              <a:t>14. Lecture du plan d’action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3246120" cy="155448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3154679" cy="41148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3026663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A33"/>
                </a:solidFill>
                <a:latin typeface="Aptos"/>
              </a:rPr>
              <a:t>Prouver le mécanisme : filtrer, router, vérifier, tracer, rejouer.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46120" cy="1554480"/>
          </a:xfrm>
          <a:prstGeom prst="roundRect">
            <a:avLst/>
          </a:prstGeom>
          <a:solidFill>
            <a:srgbClr val="E8F2F7"/>
          </a:solidFill>
          <a:ln>
            <a:solidFill>
              <a:srgbClr val="E8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59" y="1691640"/>
            <a:ext cx="3154679" cy="411480"/>
          </a:xfrm>
          <a:prstGeom prst="roundRect">
            <a:avLst/>
          </a:prstGeom>
          <a:solidFill>
            <a:srgbClr val="2D6582"/>
          </a:solidFill>
          <a:ln>
            <a:solidFill>
              <a:srgbClr val="2D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 semaines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2212848"/>
            <a:ext cx="3026663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A33"/>
                </a:solidFill>
                <a:latin typeface="Aptos"/>
              </a:rPr>
              <a:t>Prouver le pilote bancaire : un vrai cas LCB-FT, un vrai pack métier, une vraie preuve.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46120" cy="1554480"/>
          </a:xfrm>
          <a:prstGeom prst="round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1691640"/>
            <a:ext cx="3154679" cy="411480"/>
          </a:xfrm>
          <a:prstGeom prst="roundRect">
            <a:avLst/>
          </a:prstGeom>
          <a:solidFill>
            <a:srgbClr val="21845C"/>
          </a:solidFill>
          <a:ln>
            <a:solidFill>
              <a:srgbClr val="21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90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212848"/>
            <a:ext cx="3026663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A33"/>
                </a:solidFill>
                <a:latin typeface="Aptos"/>
              </a:rPr>
              <a:t>Transformer le mécanisme en Control Plane : simulation de règles, FinOps, concentration, multi-zones.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2423160"/>
            <a:ext cx="36576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80960" y="2423160"/>
            <a:ext cx="365760" cy="0"/>
          </a:xfrm>
          <a:prstGeom prst="line">
            <a:avLst/>
          </a:prstGeom>
          <a:ln w="25400">
            <a:solidFill>
              <a:srgbClr val="2D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80160" y="4297680"/>
            <a:ext cx="9601200" cy="1005840"/>
          </a:xfrm>
          <a:prstGeom prst="round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2000" b="1">
                <a:solidFill>
                  <a:srgbClr val="142A41"/>
                </a:solidFill>
                <a:latin typeface="Aptos Display"/>
              </a:rPr>
              <a:t>Le plan d’action détaille ensuite : qui fait quoi, quels agents de code utiliser, quels tickets livrer, et quels critères valident la démo.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Kolibree.ai — Sovereign Router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